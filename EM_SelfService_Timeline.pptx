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65"/>
  </p:normalViewPr>
  <p:slideViewPr>
    <p:cSldViewPr snapToGrid="0" snapToObjects="1">
      <p:cViewPr varScale="1">
        <p:scale>
          <a:sx n="152" d="100"/>
          <a:sy n="152" d="100"/>
        </p:scale>
        <p:origin x="2584" y="9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91695" cy="960120"/>
          </a:xfrm>
          <a:prstGeom prst="rect">
            <a:avLst/>
          </a:prstGeom>
          <a:solidFill>
            <a:srgbClr val="1434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400" b="1">
                <a:solidFill>
                  <a:srgbClr val="FFFFFF"/>
                </a:solidFill>
                <a:latin typeface="Calibri"/>
              </a:rPr>
              <a:t>EM Self Service Timeline</a:t>
            </a:r>
          </a:p>
        </p:txBody>
      </p:sp>
      <p:sp>
        <p:nvSpPr>
          <p:cNvPr id="3" name="Freeform 2"/>
          <p:cNvSpPr/>
          <p:nvPr/>
        </p:nvSpPr>
        <p:spPr>
          <a:xfrm>
            <a:off x="1371600" y="2697480"/>
            <a:ext cx="8869680" cy="2331720"/>
          </a:xfrm>
          <a:custGeom>
            <a:avLst/>
            <a:gdLst/>
            <a:ahLst/>
            <a:cxnLst/>
            <a:rect l="l" t="t" r="r" b="b"/>
            <a:pathLst>
              <a:path w="8869680" h="2331720">
                <a:moveTo>
                  <a:pt x="0" y="2331720"/>
                </a:moveTo>
                <a:lnTo>
                  <a:pt x="45405" y="2302572"/>
                </a:lnTo>
                <a:lnTo>
                  <a:pt x="97498" y="2266976"/>
                </a:lnTo>
                <a:lnTo>
                  <a:pt x="155823" y="2225546"/>
                </a:lnTo>
                <a:lnTo>
                  <a:pt x="219921" y="2178896"/>
                </a:lnTo>
                <a:lnTo>
                  <a:pt x="289338" y="2127643"/>
                </a:lnTo>
                <a:lnTo>
                  <a:pt x="363616" y="2072401"/>
                </a:lnTo>
                <a:lnTo>
                  <a:pt x="442300" y="2013786"/>
                </a:lnTo>
                <a:lnTo>
                  <a:pt x="524933" y="1952413"/>
                </a:lnTo>
                <a:lnTo>
                  <a:pt x="611058" y="1888896"/>
                </a:lnTo>
                <a:lnTo>
                  <a:pt x="700219" y="1823852"/>
                </a:lnTo>
                <a:lnTo>
                  <a:pt x="791960" y="1757894"/>
                </a:lnTo>
                <a:lnTo>
                  <a:pt x="885824" y="1691640"/>
                </a:lnTo>
                <a:lnTo>
                  <a:pt x="981356" y="1625702"/>
                </a:lnTo>
                <a:lnTo>
                  <a:pt x="1078097" y="1560697"/>
                </a:lnTo>
                <a:lnTo>
                  <a:pt x="1175593" y="1497240"/>
                </a:lnTo>
                <a:lnTo>
                  <a:pt x="1273386" y="1435946"/>
                </a:lnTo>
                <a:lnTo>
                  <a:pt x="1371021" y="1377430"/>
                </a:lnTo>
                <a:lnTo>
                  <a:pt x="1468040" y="1322308"/>
                </a:lnTo>
                <a:lnTo>
                  <a:pt x="1563988" y="1271193"/>
                </a:lnTo>
                <a:lnTo>
                  <a:pt x="1658408" y="1224703"/>
                </a:lnTo>
                <a:lnTo>
                  <a:pt x="1750843" y="1183451"/>
                </a:lnTo>
                <a:lnTo>
                  <a:pt x="1840838" y="1148053"/>
                </a:lnTo>
                <a:lnTo>
                  <a:pt x="1927936" y="1119124"/>
                </a:lnTo>
                <a:lnTo>
                  <a:pt x="2011680" y="1097280"/>
                </a:lnTo>
                <a:lnTo>
                  <a:pt x="2093591" y="1081940"/>
                </a:lnTo>
                <a:lnTo>
                  <a:pt x="2175483" y="1071879"/>
                </a:lnTo>
                <a:lnTo>
                  <a:pt x="2257335" y="1066740"/>
                </a:lnTo>
                <a:lnTo>
                  <a:pt x="2339128" y="1066165"/>
                </a:lnTo>
                <a:lnTo>
                  <a:pt x="2420841" y="1069796"/>
                </a:lnTo>
                <a:lnTo>
                  <a:pt x="2502455" y="1077277"/>
                </a:lnTo>
                <a:lnTo>
                  <a:pt x="2583950" y="1088251"/>
                </a:lnTo>
                <a:lnTo>
                  <a:pt x="2665306" y="1102360"/>
                </a:lnTo>
                <a:lnTo>
                  <a:pt x="2746503" y="1119247"/>
                </a:lnTo>
                <a:lnTo>
                  <a:pt x="2827522" y="1138555"/>
                </a:lnTo>
                <a:lnTo>
                  <a:pt x="2908342" y="1159926"/>
                </a:lnTo>
                <a:lnTo>
                  <a:pt x="2988945" y="1183005"/>
                </a:lnTo>
                <a:lnTo>
                  <a:pt x="3069308" y="1207432"/>
                </a:lnTo>
                <a:lnTo>
                  <a:pt x="3149414" y="1232852"/>
                </a:lnTo>
                <a:lnTo>
                  <a:pt x="3229242" y="1258907"/>
                </a:lnTo>
                <a:lnTo>
                  <a:pt x="3308773" y="1285239"/>
                </a:lnTo>
                <a:lnTo>
                  <a:pt x="3387986" y="1311493"/>
                </a:lnTo>
                <a:lnTo>
                  <a:pt x="3466861" y="1337310"/>
                </a:lnTo>
                <a:lnTo>
                  <a:pt x="3545380" y="1362332"/>
                </a:lnTo>
                <a:lnTo>
                  <a:pt x="3623521" y="1386205"/>
                </a:lnTo>
                <a:lnTo>
                  <a:pt x="3701266" y="1408568"/>
                </a:lnTo>
                <a:lnTo>
                  <a:pt x="3778593" y="1429067"/>
                </a:lnTo>
                <a:lnTo>
                  <a:pt x="3855485" y="1447343"/>
                </a:lnTo>
                <a:lnTo>
                  <a:pt x="3931920" y="1463040"/>
                </a:lnTo>
                <a:lnTo>
                  <a:pt x="4007809" y="1478276"/>
                </a:lnTo>
                <a:lnTo>
                  <a:pt x="4083102" y="1495239"/>
                </a:lnTo>
                <a:lnTo>
                  <a:pt x="4157841" y="1513671"/>
                </a:lnTo>
                <a:lnTo>
                  <a:pt x="4232063" y="1533313"/>
                </a:lnTo>
                <a:lnTo>
                  <a:pt x="4305809" y="1553907"/>
                </a:lnTo>
                <a:lnTo>
                  <a:pt x="4379118" y="1575196"/>
                </a:lnTo>
                <a:lnTo>
                  <a:pt x="4452031" y="1596922"/>
                </a:lnTo>
                <a:lnTo>
                  <a:pt x="4524586" y="1618826"/>
                </a:lnTo>
                <a:lnTo>
                  <a:pt x="4596824" y="1640651"/>
                </a:lnTo>
                <a:lnTo>
                  <a:pt x="4668784" y="1662138"/>
                </a:lnTo>
                <a:lnTo>
                  <a:pt x="4740506" y="1683031"/>
                </a:lnTo>
                <a:lnTo>
                  <a:pt x="4812030" y="1703070"/>
                </a:lnTo>
                <a:lnTo>
                  <a:pt x="4883394" y="1721997"/>
                </a:lnTo>
                <a:lnTo>
                  <a:pt x="4954640" y="1739556"/>
                </a:lnTo>
                <a:lnTo>
                  <a:pt x="5025806" y="1755487"/>
                </a:lnTo>
                <a:lnTo>
                  <a:pt x="5096933" y="1769533"/>
                </a:lnTo>
                <a:lnTo>
                  <a:pt x="5168059" y="1781436"/>
                </a:lnTo>
                <a:lnTo>
                  <a:pt x="5239226" y="1790938"/>
                </a:lnTo>
                <a:lnTo>
                  <a:pt x="5310471" y="1797780"/>
                </a:lnTo>
                <a:lnTo>
                  <a:pt x="5381836" y="1801706"/>
                </a:lnTo>
                <a:lnTo>
                  <a:pt x="5453360" y="1802457"/>
                </a:lnTo>
                <a:lnTo>
                  <a:pt x="5525082" y="1799775"/>
                </a:lnTo>
                <a:lnTo>
                  <a:pt x="5597042" y="1793402"/>
                </a:lnTo>
                <a:lnTo>
                  <a:pt x="5669280" y="1783080"/>
                </a:lnTo>
                <a:lnTo>
                  <a:pt x="5741898" y="1768560"/>
                </a:lnTo>
                <a:lnTo>
                  <a:pt x="5814933" y="1749954"/>
                </a:lnTo>
                <a:lnTo>
                  <a:pt x="5888325" y="1727537"/>
                </a:lnTo>
                <a:lnTo>
                  <a:pt x="5962015" y="1701588"/>
                </a:lnTo>
                <a:lnTo>
                  <a:pt x="6035942" y="1672384"/>
                </a:lnTo>
                <a:lnTo>
                  <a:pt x="6110049" y="1640205"/>
                </a:lnTo>
                <a:lnTo>
                  <a:pt x="6184274" y="1605326"/>
                </a:lnTo>
                <a:lnTo>
                  <a:pt x="6258560" y="1568026"/>
                </a:lnTo>
                <a:lnTo>
                  <a:pt x="6332845" y="1528583"/>
                </a:lnTo>
                <a:lnTo>
                  <a:pt x="6407070" y="1487275"/>
                </a:lnTo>
                <a:lnTo>
                  <a:pt x="6481177" y="1444380"/>
                </a:lnTo>
                <a:lnTo>
                  <a:pt x="6555104" y="1400175"/>
                </a:lnTo>
                <a:lnTo>
                  <a:pt x="6628794" y="1354937"/>
                </a:lnTo>
                <a:lnTo>
                  <a:pt x="6702186" y="1308946"/>
                </a:lnTo>
                <a:lnTo>
                  <a:pt x="6775221" y="1262479"/>
                </a:lnTo>
                <a:lnTo>
                  <a:pt x="6847840" y="1215813"/>
                </a:lnTo>
                <a:lnTo>
                  <a:pt x="6919981" y="1169226"/>
                </a:lnTo>
                <a:lnTo>
                  <a:pt x="6991588" y="1122997"/>
                </a:lnTo>
                <a:lnTo>
                  <a:pt x="7062598" y="1077403"/>
                </a:lnTo>
                <a:lnTo>
                  <a:pt x="7132955" y="1032721"/>
                </a:lnTo>
                <a:lnTo>
                  <a:pt x="7202596" y="989230"/>
                </a:lnTo>
                <a:lnTo>
                  <a:pt x="7271464" y="947208"/>
                </a:lnTo>
                <a:lnTo>
                  <a:pt x="7339498" y="906932"/>
                </a:lnTo>
                <a:lnTo>
                  <a:pt x="7406640" y="868680"/>
                </a:lnTo>
                <a:lnTo>
                  <a:pt x="7474065" y="830887"/>
                </a:lnTo>
                <a:lnTo>
                  <a:pt x="7542821" y="791924"/>
                </a:lnTo>
                <a:lnTo>
                  <a:pt x="7612647" y="751968"/>
                </a:lnTo>
                <a:lnTo>
                  <a:pt x="7683288" y="711199"/>
                </a:lnTo>
                <a:lnTo>
                  <a:pt x="7754484" y="669796"/>
                </a:lnTo>
                <a:lnTo>
                  <a:pt x="7825978" y="627935"/>
                </a:lnTo>
                <a:lnTo>
                  <a:pt x="7897511" y="585797"/>
                </a:lnTo>
                <a:lnTo>
                  <a:pt x="7968826" y="543560"/>
                </a:lnTo>
                <a:lnTo>
                  <a:pt x="8039665" y="501401"/>
                </a:lnTo>
                <a:lnTo>
                  <a:pt x="8109770" y="459501"/>
                </a:lnTo>
                <a:lnTo>
                  <a:pt x="8178882" y="418038"/>
                </a:lnTo>
                <a:lnTo>
                  <a:pt x="8246745" y="377190"/>
                </a:lnTo>
                <a:lnTo>
                  <a:pt x="8313099" y="337135"/>
                </a:lnTo>
                <a:lnTo>
                  <a:pt x="8377687" y="298053"/>
                </a:lnTo>
                <a:lnTo>
                  <a:pt x="8440251" y="260121"/>
                </a:lnTo>
                <a:lnTo>
                  <a:pt x="8500533" y="223520"/>
                </a:lnTo>
                <a:lnTo>
                  <a:pt x="8558275" y="188426"/>
                </a:lnTo>
                <a:lnTo>
                  <a:pt x="8613219" y="155019"/>
                </a:lnTo>
                <a:lnTo>
                  <a:pt x="8665107" y="123477"/>
                </a:lnTo>
                <a:lnTo>
                  <a:pt x="8713681" y="93980"/>
                </a:lnTo>
                <a:lnTo>
                  <a:pt x="8758683" y="66704"/>
                </a:lnTo>
                <a:lnTo>
                  <a:pt x="8799856" y="41830"/>
                </a:lnTo>
                <a:lnTo>
                  <a:pt x="8836941" y="19536"/>
                </a:lnTo>
                <a:lnTo>
                  <a:pt x="8869680" y="0"/>
                </a:lnTo>
              </a:path>
            </a:pathLst>
          </a:custGeom>
          <a:noFill/>
          <a:ln w="114300" cap="rnd">
            <a:solidFill>
              <a:srgbClr val="9B1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61288" y="4818888"/>
            <a:ext cx="420624" cy="420624"/>
          </a:xfrm>
          <a:prstGeom prst="ellipse">
            <a:avLst/>
          </a:prstGeom>
          <a:solidFill>
            <a:srgbClr val="9B1B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358384"/>
            <a:ext cx="214884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165A68"/>
                </a:solidFill>
                <a:latin typeface="Calibri"/>
              </a:rPr>
              <a:t>Design &amp; Approval</a:t>
            </a:r>
          </a:p>
          <a:p>
            <a:pPr algn="l"/>
            <a:r>
              <a:rPr sz="1150" b="0">
                <a:solidFill>
                  <a:srgbClr val="165A68"/>
                </a:solidFill>
                <a:latin typeface="Calibri"/>
              </a:rPr>
              <a:t>Workflow, diagrams, clickable mockups, security fix</a:t>
            </a:r>
          </a:p>
          <a:p>
            <a:pPr algn="l"/>
            <a:r>
              <a:rPr sz="1200" b="1">
                <a:solidFill>
                  <a:srgbClr val="165A68"/>
                </a:solidFill>
                <a:latin typeface="Calibri"/>
              </a:rPr>
              <a:t>Jun – Jul 2026</a:t>
            </a:r>
          </a:p>
        </p:txBody>
      </p:sp>
      <p:sp>
        <p:nvSpPr>
          <p:cNvPr id="6" name="Oval 5"/>
          <p:cNvSpPr/>
          <p:nvPr/>
        </p:nvSpPr>
        <p:spPr>
          <a:xfrm>
            <a:off x="3172968" y="3584448"/>
            <a:ext cx="420624" cy="420624"/>
          </a:xfrm>
          <a:prstGeom prst="ellipse">
            <a:avLst/>
          </a:prstGeom>
          <a:solidFill>
            <a:srgbClr val="9B1B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94910" y="3121851"/>
            <a:ext cx="196596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65A68"/>
                </a:solidFill>
                <a:latin typeface="Calibri"/>
              </a:rPr>
              <a:t>Billing Foundation</a:t>
            </a:r>
          </a:p>
          <a:p>
            <a:pPr algn="l"/>
            <a:r>
              <a:rPr sz="1150" b="0" dirty="0">
                <a:solidFill>
                  <a:srgbClr val="165A68"/>
                </a:solidFill>
                <a:latin typeface="Calibri"/>
              </a:rPr>
              <a:t>Billing runs, per-PTA Finance CSV loop, debt ledger</a:t>
            </a:r>
          </a:p>
          <a:p>
            <a:pPr algn="l"/>
            <a:r>
              <a:rPr sz="1200" b="1" dirty="0">
                <a:solidFill>
                  <a:srgbClr val="165A68"/>
                </a:solidFill>
                <a:latin typeface="Calibri"/>
              </a:rPr>
              <a:t>Aug – </a:t>
            </a:r>
            <a:r>
              <a:rPr lang="en-US" sz="1200" b="1" dirty="0">
                <a:solidFill>
                  <a:srgbClr val="165A68"/>
                </a:solidFill>
                <a:latin typeface="Calibri"/>
              </a:rPr>
              <a:t>Mid Aug</a:t>
            </a:r>
            <a:r>
              <a:rPr sz="1200" b="1" dirty="0">
                <a:solidFill>
                  <a:srgbClr val="165A68"/>
                </a:solidFill>
                <a:latin typeface="Calibri"/>
              </a:rPr>
              <a:t> 2026</a:t>
            </a:r>
          </a:p>
        </p:txBody>
      </p:sp>
      <p:sp>
        <p:nvSpPr>
          <p:cNvPr id="8" name="Oval 7"/>
          <p:cNvSpPr/>
          <p:nvPr/>
        </p:nvSpPr>
        <p:spPr>
          <a:xfrm>
            <a:off x="5093207" y="3950207"/>
            <a:ext cx="420624" cy="420624"/>
          </a:xfrm>
          <a:prstGeom prst="ellipse">
            <a:avLst/>
          </a:prstGeom>
          <a:solidFill>
            <a:srgbClr val="9B1B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2363" y="4164301"/>
            <a:ext cx="2212848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65A68"/>
                </a:solidFill>
                <a:latin typeface="Calibri"/>
              </a:rPr>
              <a:t>Self-Service Requests</a:t>
            </a:r>
          </a:p>
          <a:p>
            <a:pPr algn="l"/>
            <a:r>
              <a:rPr sz="1150" b="0" dirty="0">
                <a:solidFill>
                  <a:srgbClr val="165A68"/>
                </a:solidFill>
                <a:latin typeface="Calibri"/>
              </a:rPr>
              <a:t>EM catalog &amp; cart, PI email approval, auto-enable / RSSD Jira</a:t>
            </a:r>
          </a:p>
          <a:p>
            <a:pPr algn="l"/>
            <a:r>
              <a:rPr lang="en-US" sz="1200" b="1" dirty="0">
                <a:solidFill>
                  <a:srgbClr val="165A68"/>
                </a:solidFill>
                <a:latin typeface="Calibri"/>
              </a:rPr>
              <a:t>Mid July</a:t>
            </a:r>
            <a:r>
              <a:rPr sz="1200" b="1" dirty="0">
                <a:solidFill>
                  <a:srgbClr val="165A68"/>
                </a:solidFill>
                <a:latin typeface="Calibri"/>
              </a:rPr>
              <a:t> – </a:t>
            </a:r>
            <a:r>
              <a:rPr lang="en-US" sz="1200" b="1" dirty="0">
                <a:solidFill>
                  <a:srgbClr val="165A68"/>
                </a:solidFill>
                <a:latin typeface="Calibri"/>
              </a:rPr>
              <a:t>Aug</a:t>
            </a:r>
            <a:r>
              <a:rPr sz="1200" b="1" dirty="0">
                <a:solidFill>
                  <a:srgbClr val="165A68"/>
                </a:solidFill>
                <a:latin typeface="Calibri"/>
              </a:rPr>
              <a:t> 2026</a:t>
            </a:r>
          </a:p>
        </p:txBody>
      </p:sp>
      <p:sp>
        <p:nvSpPr>
          <p:cNvPr id="10" name="Oval 9"/>
          <p:cNvSpPr/>
          <p:nvPr/>
        </p:nvSpPr>
        <p:spPr>
          <a:xfrm>
            <a:off x="6830568" y="4270248"/>
            <a:ext cx="420624" cy="420624"/>
          </a:xfrm>
          <a:prstGeom prst="ellipse">
            <a:avLst/>
          </a:prstGeom>
          <a:solidFill>
            <a:srgbClr val="9B1B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7769" y="4608576"/>
            <a:ext cx="1965960" cy="91563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65A68"/>
                </a:solidFill>
                <a:latin typeface="Calibri"/>
              </a:rPr>
              <a:t>Lifecycle &amp; Safety Nets</a:t>
            </a:r>
          </a:p>
          <a:p>
            <a:pPr algn="l"/>
            <a:r>
              <a:rPr sz="1150" b="0" dirty="0">
                <a:solidFill>
                  <a:srgbClr val="165A68"/>
                </a:solidFill>
                <a:latin typeface="Calibri"/>
              </a:rPr>
              <a:t>Native EM-manager integration, self-service disable, reconciliation</a:t>
            </a:r>
          </a:p>
          <a:p>
            <a:pPr algn="l"/>
            <a:r>
              <a:rPr lang="en-US" sz="1200" b="1" dirty="0">
                <a:solidFill>
                  <a:srgbClr val="165A68"/>
                </a:solidFill>
                <a:latin typeface="Calibri"/>
              </a:rPr>
              <a:t>Aug</a:t>
            </a:r>
            <a:r>
              <a:rPr sz="1200" b="1" dirty="0">
                <a:solidFill>
                  <a:srgbClr val="165A68"/>
                </a:solidFill>
                <a:latin typeface="Calibri"/>
              </a:rPr>
              <a:t> 2026</a:t>
            </a:r>
          </a:p>
        </p:txBody>
      </p:sp>
      <p:sp>
        <p:nvSpPr>
          <p:cNvPr id="12" name="Oval 11"/>
          <p:cNvSpPr/>
          <p:nvPr/>
        </p:nvSpPr>
        <p:spPr>
          <a:xfrm>
            <a:off x="8567928" y="3355848"/>
            <a:ext cx="420624" cy="420624"/>
          </a:xfrm>
          <a:prstGeom prst="ellipse">
            <a:avLst/>
          </a:prstGeom>
          <a:solidFill>
            <a:srgbClr val="9B1B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9" y="2686205"/>
            <a:ext cx="2148840" cy="7386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65A68"/>
                </a:solidFill>
                <a:latin typeface="Calibri"/>
              </a:rPr>
              <a:t>Cutover &amp; Migration</a:t>
            </a:r>
          </a:p>
          <a:p>
            <a:pPr algn="l"/>
            <a:r>
              <a:rPr sz="1150" b="0" dirty="0">
                <a:solidFill>
                  <a:srgbClr val="165A68"/>
                </a:solidFill>
                <a:latin typeface="Calibri"/>
              </a:rPr>
              <a:t>REDCap becomes source of truth, R2P2 retired, history migrated</a:t>
            </a:r>
          </a:p>
          <a:p>
            <a:pPr algn="l"/>
            <a:r>
              <a:rPr lang="en-US" sz="1200" b="1" dirty="0">
                <a:solidFill>
                  <a:srgbClr val="165A68"/>
                </a:solidFill>
                <a:latin typeface="Calibri"/>
              </a:rPr>
              <a:t>Sept </a:t>
            </a:r>
            <a:r>
              <a:rPr sz="1200" b="1" dirty="0">
                <a:solidFill>
                  <a:srgbClr val="165A68"/>
                </a:solidFill>
                <a:latin typeface="Calibri"/>
              </a:rPr>
              <a:t>202</a:t>
            </a:r>
            <a:r>
              <a:rPr lang="en-US" sz="1200" b="1" dirty="0">
                <a:solidFill>
                  <a:srgbClr val="165A68"/>
                </a:solidFill>
                <a:latin typeface="Calibri"/>
              </a:rPr>
              <a:t>6</a:t>
            </a:r>
            <a:endParaRPr sz="1200" b="1" dirty="0">
              <a:solidFill>
                <a:srgbClr val="165A68"/>
              </a:solidFill>
              <a:latin typeface="Calibr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30967" y="2487168"/>
            <a:ext cx="420624" cy="420624"/>
          </a:xfrm>
          <a:prstGeom prst="ellipse">
            <a:avLst/>
          </a:prstGeom>
          <a:solidFill>
            <a:srgbClr val="9B1B1E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6124" y="2997650"/>
            <a:ext cx="228600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dirty="0">
                <a:solidFill>
                  <a:srgbClr val="165A68"/>
                </a:solidFill>
                <a:latin typeface="Calibri"/>
              </a:rPr>
              <a:t>Beyond v1</a:t>
            </a:r>
          </a:p>
          <a:p>
            <a:pPr algn="l"/>
            <a:r>
              <a:rPr sz="1150" b="0" dirty="0">
                <a:solidFill>
                  <a:srgbClr val="165A68"/>
                </a:solidFill>
                <a:latin typeface="Calibri"/>
              </a:rPr>
              <a:t>LPCH / SHC instances, email notifications</a:t>
            </a:r>
          </a:p>
          <a:p>
            <a:pPr algn="l"/>
            <a:r>
              <a:rPr sz="1200" b="1" dirty="0">
                <a:solidFill>
                  <a:srgbClr val="165A68"/>
                </a:solidFill>
                <a:latin typeface="Calibri"/>
              </a:rPr>
              <a:t>2027+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871091" y="3213291"/>
            <a:ext cx="475488" cy="1051560"/>
          </a:xfrm>
          <a:prstGeom prst="downArrow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8860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 dirty="0">
                <a:solidFill>
                  <a:srgbClr val="9B1B1E"/>
                </a:solidFill>
                <a:latin typeface="Calibri"/>
              </a:rPr>
              <a:t>WE ARE HERE — JUL 10,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B7684"/>
                </a:solidFill>
                <a:latin typeface="Calibri"/>
              </a:rPr>
              <a:t>Stanford Medicine REDCap · Research IT (RSSD) · details: EM_Billing_Implementation_Plan.html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134</Words>
  <Application>Microsoft Macintosh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Ihab Zeedia</cp:lastModifiedBy>
  <cp:revision>2</cp:revision>
  <dcterms:created xsi:type="dcterms:W3CDTF">2013-01-27T09:14:16Z</dcterms:created>
  <dcterms:modified xsi:type="dcterms:W3CDTF">2026-07-10T19:11:39Z</dcterms:modified>
  <cp:category/>
</cp:coreProperties>
</file>